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9" r:id="rId3"/>
    <p:sldId id="257" r:id="rId4"/>
    <p:sldId id="260" r:id="rId5"/>
    <p:sldId id="261" r:id="rId6"/>
    <p:sldId id="262" r:id="rId7"/>
    <p:sldId id="263" r:id="rId8"/>
    <p:sldId id="276" r:id="rId9"/>
    <p:sldId id="277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4" r:id="rId18"/>
    <p:sldId id="275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64" autoAdjust="0"/>
    <p:restoredTop sz="94610" autoAdjust="0"/>
  </p:normalViewPr>
  <p:slideViewPr>
    <p:cSldViewPr snapToGrid="0" snapToObjects="1">
      <p:cViewPr>
        <p:scale>
          <a:sx n="100" d="100"/>
          <a:sy n="100" d="100"/>
        </p:scale>
        <p:origin x="-510" y="-1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presProps" Target="pres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jpeg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alphaModFix amt="70000"/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819275" y="274320"/>
            <a:ext cx="57073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524 – Digital Agriculture and Advanced Analytics</a:t>
            </a:r>
            <a:endParaRPr lang="en-US" sz="2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230630" y="2257425"/>
            <a:ext cx="649605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Fully Wireless Sensor </a:t>
            </a:r>
            <a:r>
              <a:rPr lang="en-US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with NodeMCU</a:t>
            </a:r>
            <a:endParaRPr lang="en-US" sz="3200" dirty="0"/>
          </a:p>
          <a:p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20040" y="29260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53050" y="3371850"/>
            <a:ext cx="3790949" cy="16116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ea typeface="Calibri" pitchFamily="34" charset="-122"/>
                <a:cs typeface="Calibri" pitchFamily="34" charset="-120"/>
              </a:rPr>
              <a:t>Submitted by: 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ea typeface="Calibri" pitchFamily="34" charset="-122"/>
                <a:cs typeface="Calibri" pitchFamily="34" charset="-120"/>
              </a:rPr>
              <a:t>Shivani Agrawal (254154007) &amp; Vivek Sharma(256154006)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ea typeface="Calibri" pitchFamily="34" charset="-122"/>
                <a:cs typeface="Calibri" pitchFamily="34" charset="-120"/>
              </a:rPr>
              <a:t>School of Agro and Rural Technology (SART)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ea typeface="Calibri" pitchFamily="34" charset="-122"/>
                <a:cs typeface="Calibri" pitchFamily="34" charset="-120"/>
              </a:rPr>
              <a:t>IIT Guwahati (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Calibri" pitchFamily="34" charset="-120"/>
              </a:rPr>
              <a:t>781039)</a:t>
            </a:r>
          </a:p>
          <a:p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cs typeface="Calibri" pitchFamily="34" charset="-120"/>
            </a:endParaRPr>
          </a:p>
          <a:p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ea typeface="Calibri" pitchFamily="34" charset="-122"/>
                <a:cs typeface="Calibri" pitchFamily="34" charset="-120"/>
              </a:rPr>
              <a:t>Submitted to: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Calibri" pitchFamily="34" charset="-120"/>
              </a:rPr>
              <a:t>Dr. Dipankar Mandal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Calibri" pitchFamily="34" charset="-120"/>
              </a:rPr>
              <a:t>Assistant Professor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67075" y="1600200"/>
            <a:ext cx="2495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32743"/>
          </a:solidFill>
          <a:ln w="12700">
            <a:solidFill>
              <a:srgbClr val="1327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Connections — Fritzing Diagram</a:t>
            </a:r>
            <a:endParaRPr lang="en-US" sz="2000" dirty="0"/>
          </a:p>
        </p:txBody>
      </p:sp>
      <p:pic>
        <p:nvPicPr>
          <p:cNvPr id="4" name="Image 0" descr="/mnt/user-data/uploads/WhatsApp_Image_2026-04-19_at_11_21_52_PM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749808"/>
            <a:ext cx="4363357" cy="27173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56A5E1-4E54-FE9F-8CD2-011A777386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572000" y="749808"/>
            <a:ext cx="4508500" cy="2651978"/>
          </a:xfrm>
          <a:prstGeom prst="rect">
            <a:avLst/>
          </a:prstGeom>
        </p:spPr>
      </p:pic>
      <p:sp>
        <p:nvSpPr>
          <p:cNvPr id="7" name="Shape 2">
            <a:extLst>
              <a:ext uri="{FF2B5EF4-FFF2-40B4-BE49-F238E27FC236}">
                <a16:creationId xmlns:a16="http://schemas.microsoft.com/office/drawing/2014/main" id="{BE7655CC-3072-6FC2-A00C-6F628DD82459}"/>
              </a:ext>
            </a:extLst>
          </p:cNvPr>
          <p:cNvSpPr/>
          <p:nvPr/>
        </p:nvSpPr>
        <p:spPr>
          <a:xfrm>
            <a:off x="0" y="3666109"/>
            <a:ext cx="2286000" cy="145516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68C0A0-5AF8-CB5D-A249-A7441EFC8F6A}"/>
              </a:ext>
            </a:extLst>
          </p:cNvPr>
          <p:cNvSpPr txBox="1"/>
          <p:nvPr/>
        </p:nvSpPr>
        <p:spPr>
          <a:xfrm>
            <a:off x="0" y="3557845"/>
            <a:ext cx="228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000" b="1" dirty="0"/>
              <a:t>​1. FC-28 Soil Moisture Probe</a:t>
            </a:r>
          </a:p>
          <a:p>
            <a:pPr rtl="0">
              <a:buNone/>
            </a:pPr>
            <a:endParaRPr lang="en-IN" sz="1000" b="1" dirty="0"/>
          </a:p>
          <a:p>
            <a:pPr rtl="0">
              <a:buNone/>
            </a:pPr>
            <a:r>
              <a:rPr lang="en-IN" sz="1000" dirty="0"/>
              <a:t>​It consists of two large exposed pads that act as variable resistors.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IN" sz="1000" dirty="0"/>
              <a:t>​</a:t>
            </a:r>
            <a:r>
              <a:rPr lang="en-IN" sz="1000" b="1" dirty="0"/>
              <a:t>How it works:</a:t>
            </a:r>
            <a:r>
              <a:rPr lang="en-IN" sz="1000" dirty="0"/>
              <a:t> When the soil is wet, it conducts electricity more easily (lower resistance). When the soil is dry, it conducts poorly (higher resistance).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D80BBA-9049-EEE3-64E9-41FEE1A77C0F}"/>
              </a:ext>
            </a:extLst>
          </p:cNvPr>
          <p:cNvSpPr txBox="1"/>
          <p:nvPr/>
        </p:nvSpPr>
        <p:spPr>
          <a:xfrm>
            <a:off x="2181678" y="3533751"/>
            <a:ext cx="228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000" b="1" dirty="0"/>
              <a:t>​2. Soil Moisture Control Module (Comparator)
​</a:t>
            </a:r>
            <a:r>
              <a:rPr lang="en-IN" sz="1000" dirty="0"/>
              <a:t>This is the small blue board connected directly to the FC-28 probe. It processes the raw signal from the probe before sending it to the microcontroller.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7DA003-36A4-19EF-2456-BC35E62C215D}"/>
              </a:ext>
            </a:extLst>
          </p:cNvPr>
          <p:cNvSpPr txBox="1"/>
          <p:nvPr/>
        </p:nvSpPr>
        <p:spPr>
          <a:xfrm>
            <a:off x="4467678" y="3533750"/>
            <a:ext cx="228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000" b="1" dirty="0"/>
              <a:t>​3. NodeMCU ESP8266 
​</a:t>
            </a:r>
            <a:r>
              <a:rPr lang="en-IN" sz="1000" dirty="0"/>
              <a:t>The large black board in the centre is the “brain” of the project. It is a Wi-Fi-enabled microcontroller based on the ESP8266 chip.
​</a:t>
            </a:r>
            <a:r>
              <a:rPr lang="en-IN" sz="1000" b="1" dirty="0"/>
              <a:t>Function</a:t>
            </a:r>
            <a:r>
              <a:rPr lang="en-IN" sz="1000" dirty="0"/>
              <a:t>: It reads the data from the sensors, processes the values, and can transmit that data over Wi-Fi to a phone app or a cloud dashboard.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6B6D25-0AC5-3021-CAB4-6F3446F75253}"/>
              </a:ext>
            </a:extLst>
          </p:cNvPr>
          <p:cNvSpPr txBox="1"/>
          <p:nvPr/>
        </p:nvSpPr>
        <p:spPr>
          <a:xfrm>
            <a:off x="6826250" y="3412930"/>
            <a:ext cx="228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000" b="1" dirty="0"/>
              <a:t>​4. DHT11 Temperature &amp; Humidity Sensor
​</a:t>
            </a:r>
            <a:r>
              <a:rPr lang="en-IN" sz="1000" dirty="0"/>
              <a:t>The small blue grid-like component on the right is a DHT11 sensor.
​</a:t>
            </a:r>
            <a:r>
              <a:rPr lang="en-IN" sz="1000" b="1" dirty="0"/>
              <a:t>Function</a:t>
            </a:r>
            <a:r>
              <a:rPr lang="en-IN" sz="1000" dirty="0"/>
              <a:t>: Unlike the FC-28 which measures the ground, this measures the ambient air. It provides two readings: temperature and relative humidity.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64008" cy="16916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fully wireless sensor system using NodeMCU (ESP8266) to monitor soil moisture and ambient temperature &amp; humidity in agricultural fields.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14400"/>
            <a:ext cx="64008" cy="1691640"/>
          </a:xfrm>
          <a:prstGeom prst="rect">
            <a:avLst/>
          </a:prstGeom>
          <a:solidFill>
            <a:srgbClr val="00A3FF"/>
          </a:solidFill>
          <a:ln w="12700">
            <a:solidFill>
              <a:srgbClr val="00A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241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Key Components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389888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NodeMCU ESP8266  •  FC-28 Soil Moisture Sensor  •  DHT11 Temperature &amp; Humidity Sensor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78892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788920"/>
            <a:ext cx="64008" cy="1691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986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What Makes it Wireless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264408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NodeMCU has built-in WiFi (ESP8266 chip). Sensor data can be transmitted over WiFi for remote monitoring and data logging.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78892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788920"/>
            <a:ext cx="64008" cy="1691640"/>
          </a:xfrm>
          <a:prstGeom prst="rect">
            <a:avLst/>
          </a:prstGeom>
          <a:solidFill>
            <a:srgbClr val="E05A3A"/>
          </a:solidFill>
          <a:ln w="12700">
            <a:solidFill>
              <a:srgbClr val="E05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8986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Output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264408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sensor readings displayed in Arduino Serial Monitor at 115200 baud. Values: Soil Moisture %, Temperature °C, Humidity %.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Connection Details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153619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FC-28 Soil Moisture Sensor → NodeMCU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061972"/>
          <a:ext cx="4114800" cy="14478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Pin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NodeMCU Pin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 (Analog Out)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Analog moisture reading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3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supply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411480" y="2061972"/>
            <a:ext cx="4114800" cy="347472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0619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Pin                   NodeMCU Pin                     Purpose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800600" y="153619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 Temperature &amp; Humidity Sensor → NodeMCU</a:t>
            </a:r>
            <a:endParaRPr lang="en-US" sz="12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2061972"/>
          <a:ext cx="4114800" cy="145389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Pin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NodeMCU Pin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supply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 (GPIO2)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&amp; Humidity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709160" y="2061972"/>
            <a:ext cx="4114800" cy="347472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211683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Pin                             NodeMCU Pin                 Purpose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32743"/>
          </a:solidFill>
          <a:ln w="12700">
            <a:solidFill>
              <a:srgbClr val="1327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Install Silicon Labs CP210x USB to UART </a:t>
            </a:r>
            <a:r>
              <a:rPr lang="en-IN" sz="2000" b="1" dirty="0">
                <a:solidFill>
                  <a:schemeClr val="bg1"/>
                </a:solidFill>
              </a:rPr>
              <a:t>Bridge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Driver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89611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this needed?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1216152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NodeMCU uses a CP210x chip to convert USB signals to UART (serial). Without the driver, your computer cannot detect or communicate with the NodeMCU board.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1" y="1783080"/>
            <a:ext cx="236601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783080"/>
            <a:ext cx="64008" cy="13258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892808"/>
            <a:ext cx="347472" cy="34747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8928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41832" y="189280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Driver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" y="2295144"/>
            <a:ext cx="2201419" cy="5714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Silicon Labs website → search 'CP210x USB to UART Bridge VCP Drivers'. Download for your OS (Windows / Mac / Linux).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55214" y="1783080"/>
            <a:ext cx="2374011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855214" y="1783080"/>
            <a:ext cx="64008" cy="13258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55239" y="1837944"/>
            <a:ext cx="347472" cy="34747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55239" y="18379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16452" y="1837944"/>
            <a:ext cx="158877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Installer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19222" y="2240280"/>
            <a:ext cx="2144649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zip file. Run the .exe (Windows) or .dmg (Mac). Follow the installation wizard and complete setup.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264408"/>
            <a:ext cx="2366011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264408"/>
            <a:ext cx="64008" cy="13258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" y="3319272"/>
            <a:ext cx="347472" cy="34747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33192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41832" y="3319272"/>
            <a:ext cx="148704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NodeMCU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" y="3721608"/>
            <a:ext cx="2201419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NodeMCU to computer via Micro-USB cable. Windows: Check Device Manager → Ports (COM &amp; LPT). A new COM port should appear.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855214" y="3264408"/>
            <a:ext cx="2350008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855214" y="3200400"/>
            <a:ext cx="64008" cy="13258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63240" y="3264408"/>
            <a:ext cx="347472" cy="34747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55239" y="32644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14725" y="3264408"/>
            <a:ext cx="15491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Detection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919222" y="3721608"/>
            <a:ext cx="214464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Windows: Device Manager → Ports → 'Silicon Labs CP210x USB to UART Bridge (COMx)'. This confirms driver is working correctly.</a:t>
            </a:r>
            <a:endParaRPr lang="en-US" sz="1000" dirty="0"/>
          </a:p>
        </p:txBody>
      </p:sp>
      <p:pic>
        <p:nvPicPr>
          <p:cNvPr id="30" name="Picture 29"/>
          <p:cNvPicPr/>
          <p:nvPr/>
        </p:nvPicPr>
        <p:blipFill rotWithShape="1">
          <a:blip r:embed="rId3"/>
          <a:srcRect b="2473"/>
          <a:stretch/>
        </p:blipFill>
        <p:spPr bwMode="auto">
          <a:xfrm>
            <a:off x="5063871" y="1485900"/>
            <a:ext cx="4080129" cy="310438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Install Libraries in Arduino IDE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84124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libraries must be installed to use NodeMCU's WiFi and DHT sensor features: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3270885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3270885" cy="384048"/>
          </a:xfrm>
          <a:prstGeom prst="rect">
            <a:avLst/>
          </a:prstGeom>
          <a:solidFill>
            <a:srgbClr val="00A3FF"/>
          </a:solidFill>
          <a:ln w="12700">
            <a:solidFill>
              <a:srgbClr val="00A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5272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📶  ESP8266WiFi.h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301942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0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NodeMCU its WiFi superpowers.
</a:t>
            </a:r>
            <a:r>
              <a:rPr lang="en-US" sz="10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install: </a:t>
            </a:r>
            <a:r>
              <a:rPr lang="en-US" sz="10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 → Tools → Manage Libraries → search 'ESP8266WiFi' → Install
</a:t>
            </a:r>
            <a:r>
              <a:rPr lang="en-US" sz="10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Package: </a:t>
            </a:r>
            <a:r>
              <a:rPr lang="en-US" sz="10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ESP8266 board package by esp8266 community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19319" y="1234440"/>
            <a:ext cx="3198495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19319" y="1234440"/>
            <a:ext cx="3198495" cy="3840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19319" y="1252728"/>
            <a:ext cx="262013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  DHT.h  (DHT sensor library)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19319" y="1664208"/>
            <a:ext cx="31984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0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reading from DHT11/DHT22 sensors.
</a:t>
            </a:r>
            <a:r>
              <a:rPr lang="en-US" sz="10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install: </a:t>
            </a:r>
            <a:r>
              <a:rPr lang="en-US" sz="10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 → Tools → Manage Libraries → search 'DHT sensor library' by Adafruit → Install
</a:t>
            </a:r>
            <a:r>
              <a:rPr lang="en-US" sz="10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10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install 'Adafruit Unified Sensor' if prompted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31546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How to Add ESP8266 Board to Arduino IDE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" y="352044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File → Preferences → Paste this URL in 'Additional Boards Manager URLs':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0040" y="397764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A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http://arduino.esp8266.com/stable/package_esp8266com_index.json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0040" y="443484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Tools → Board → Boards Manager → search 'esp8266' → Install 'esp8266 by ESP8266 Community'</a:t>
            </a:r>
            <a:endParaRPr lang="en-US" sz="1050" dirty="0"/>
          </a:p>
        </p:txBody>
      </p:sp>
      <p:pic>
        <p:nvPicPr>
          <p:cNvPr id="17" name="Picture 16"/>
          <p:cNvPicPr/>
          <p:nvPr/>
        </p:nvPicPr>
        <p:blipFill>
          <a:blip r:embed="rId3"/>
          <a:stretch>
            <a:fillRect/>
          </a:stretch>
        </p:blipFill>
        <p:spPr>
          <a:xfrm>
            <a:off x="6917814" y="1234440"/>
            <a:ext cx="2077596" cy="22776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32743"/>
          </a:solidFill>
          <a:ln w="12700">
            <a:solidFill>
              <a:srgbClr val="1327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Select Board &amp; Port in Arduino IDE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64008" cy="1828800"/>
          </a:xfrm>
          <a:prstGeom prst="rect">
            <a:avLst/>
          </a:prstGeom>
          <a:solidFill>
            <a:srgbClr val="132743"/>
          </a:solidFill>
          <a:ln w="12700">
            <a:solidFill>
              <a:srgbClr val="1327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241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Select the Board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to: Tools → Board → ESP8266 Boards → select 'NodeMCU 1.0 (ESP-12E Module)'. This tells Arduino IDE which microcontroller you are using.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286000"/>
            <a:ext cx="3794760" cy="347472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2304288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Tools → Board → ESP8266 Boards → NodeMCU 1.0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14400"/>
            <a:ext cx="64008" cy="1828800"/>
          </a:xfrm>
          <a:prstGeom prst="rect">
            <a:avLst/>
          </a:prstGeom>
          <a:solidFill>
            <a:srgbClr val="132743"/>
          </a:solidFill>
          <a:ln w="12700">
            <a:solidFill>
              <a:srgbClr val="1327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0241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Select the Port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389888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to: Tools → Port → Select the COM port where NodeMCU is connected. On Windows it appears as COM3, COM4, etc. 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2286000"/>
            <a:ext cx="3794760" cy="347472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65192" y="2304288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Tools → Port → </a:t>
            </a:r>
            <a:r>
              <a:rPr lang="en-US" sz="900" dirty="0" err="1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COMx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26080"/>
            <a:ext cx="64008" cy="1828800"/>
          </a:xfrm>
          <a:prstGeom prst="rect">
            <a:avLst/>
          </a:prstGeom>
          <a:solidFill>
            <a:srgbClr val="132743"/>
          </a:solidFill>
          <a:ln w="12700">
            <a:solidFill>
              <a:srgbClr val="1327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358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Upload Speed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401568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→ Upload Speed → 115200. This matches the Serial.begin(115200) in your code. Mismatched baud rates cause garbled output in monitor.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4297680"/>
            <a:ext cx="3794760" cy="347472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4315968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Tools → Upload Speed → 115200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292608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926080"/>
            <a:ext cx="64008" cy="1828800"/>
          </a:xfrm>
          <a:prstGeom prst="rect">
            <a:avLst/>
          </a:prstGeom>
          <a:solidFill>
            <a:srgbClr val="132743"/>
          </a:solidFill>
          <a:ln w="12700">
            <a:solidFill>
              <a:srgbClr val="1327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0358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Verify Selection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3401568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bar of Arduino IDE shows current board &amp; port. Example: 'NodeMCU 1.0 (ESP-12E Module) on COM4'. Now you are ready to upload code.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4297680"/>
            <a:ext cx="3794760" cy="347472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4315968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Bottom bar → NodeMCU 1.0 on COMx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619125" y="749808"/>
            <a:ext cx="6438900" cy="2533972"/>
          </a:xfrm>
          <a:prstGeom prst="rect">
            <a:avLst/>
          </a:prstGeom>
        </p:spPr>
      </p:pic>
      <p:pic>
        <p:nvPicPr>
          <p:cNvPr id="3" name="Picture 2"/>
          <p:cNvPicPr/>
          <p:nvPr/>
        </p:nvPicPr>
        <p:blipFill rotWithShape="1">
          <a:blip r:embed="rId3"/>
          <a:srcRect r="-1"/>
          <a:stretch/>
        </p:blipFill>
        <p:spPr>
          <a:xfrm>
            <a:off x="804862" y="3683952"/>
            <a:ext cx="6237606" cy="1230948"/>
          </a:xfrm>
          <a:prstGeom prst="rect">
            <a:avLst/>
          </a:prstGeom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 flipV="1">
            <a:off x="804862" y="3012043"/>
            <a:ext cx="16097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47649" y="3345398"/>
            <a:ext cx="487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Setting of baud rate in serial monitor to 115200: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32743"/>
          </a:solidFill>
          <a:ln w="12700">
            <a:solidFill>
              <a:srgbClr val="132743"/>
            </a:solidFill>
            <a:prstDash val="solid"/>
          </a:ln>
        </p:spPr>
      </p:sp>
      <p:sp>
        <p:nvSpPr>
          <p:cNvPr id="14" name="TextBox 13"/>
          <p:cNvSpPr txBox="1"/>
          <p:nvPr/>
        </p:nvSpPr>
        <p:spPr>
          <a:xfrm>
            <a:off x="247649" y="200025"/>
            <a:ext cx="5915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Selection of Board and port in Arduino IDE:</a:t>
            </a:r>
            <a:endParaRPr lang="en-US" sz="32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9255" y="835572"/>
            <a:ext cx="5371893" cy="403991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32743"/>
          </a:solidFill>
          <a:ln w="12700">
            <a:solidFill>
              <a:srgbClr val="132743"/>
            </a:solidFill>
            <a:prstDash val="solid"/>
          </a:ln>
        </p:spPr>
      </p:sp>
      <p:sp>
        <p:nvSpPr>
          <p:cNvPr id="5" name="TextBox 4"/>
          <p:cNvSpPr txBox="1"/>
          <p:nvPr/>
        </p:nvSpPr>
        <p:spPr>
          <a:xfrm>
            <a:off x="371475" y="171450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Step 4 — </a:t>
            </a:r>
            <a:r>
              <a:rPr lang="en-US" dirty="0">
                <a:solidFill>
                  <a:schemeClr val="bg1"/>
                </a:solidFill>
              </a:rPr>
              <a:t>Write Code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Libraries in the Code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84124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Arduino sketch begins by importing the libraries it needs. Here's what each line does: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3931920" cy="1143000"/>
          </a:xfrm>
          <a:prstGeom prst="rect">
            <a:avLst/>
          </a:prstGeom>
          <a:solidFill>
            <a:srgbClr val="1E3A2F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07592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&lt;ESP8266WiFi.h&gt;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&lt;DHT.h&gt;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12344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ESP8266WiFi.h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1572768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 WiFi features for NodeMCU (ESP8266). This library contains all functions needed to connect your board to the internet — scanning networks, connecting, sending data, and more. Without this line, your NodeMCU is just a regular Arduino with no wireless capability.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646757"/>
            <a:ext cx="8503920" cy="27432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89864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DHT.h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3310128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support for DHT family sensors (DHT11, DHT22, DHT21). Provides easy functions: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A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dht.readTemperature() → returns °C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A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dht.readHumidity() → returns 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898648"/>
            <a:ext cx="3931920" cy="1417320"/>
          </a:xfrm>
          <a:prstGeom prst="rect">
            <a:avLst/>
          </a:prstGeom>
          <a:solidFill>
            <a:srgbClr val="1E3A2F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035808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DHT Sensor Configuration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DHTPIN D4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DHTTYPE DHT11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DHT dht(DHTPIN, DHTTYPE);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 Sensor Configuration in Code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84124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Line-by-line explanation of DHT11 sensor setup: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3474720" cy="475488"/>
          </a:xfrm>
          <a:prstGeom prst="rect">
            <a:avLst/>
          </a:prstGeom>
          <a:solidFill>
            <a:srgbClr val="1E3A2F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324612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DHTPIN D4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977640" y="1188720"/>
            <a:ext cx="484632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977640" y="1188720"/>
            <a:ext cx="64008" cy="11155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33088" y="12618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DHT Data Pin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33088" y="1554480"/>
            <a:ext cx="4572000" cy="4209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tells the program: 'DHT sensor's data wire is connected to D4 on NodeMCU'. 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450592"/>
            <a:ext cx="3474720" cy="475488"/>
          </a:xfrm>
          <a:prstGeom prst="rect">
            <a:avLst/>
          </a:prstGeom>
          <a:solidFill>
            <a:srgbClr val="1E3A2F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23744"/>
            <a:ext cx="324612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DHTTYPE DHT11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77640" y="2450592"/>
            <a:ext cx="484632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977640" y="2450592"/>
            <a:ext cx="64008" cy="11155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33088" y="252374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Sensor Type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33088" y="281635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Specifies which DHT model you are using. DHT11 is the basic blue sensor. 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712464"/>
            <a:ext cx="3474720" cy="475488"/>
          </a:xfrm>
          <a:prstGeom prst="rect">
            <a:avLst/>
          </a:prstGeom>
          <a:solidFill>
            <a:srgbClr val="1E3A2F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85616"/>
            <a:ext cx="324612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DHT dht(DHTPIN, DHTTYPE);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041648" y="3712464"/>
            <a:ext cx="484632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977640" y="3712464"/>
            <a:ext cx="64008" cy="11155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33088" y="37856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DHT Object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33088" y="4078224"/>
            <a:ext cx="4572000" cy="5714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controller named 'dht' for your sensor. Think of it as registering your sensor: telling the code which pin it's on and what type it is. 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32743"/>
          </a:solidFill>
          <a:ln w="12700">
            <a:solidFill>
              <a:srgbClr val="1327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 Sensor Configuration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84124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FC-28 soil sensor outputs an analog voltage. NodeMCU reads it on pin A0 (the only analog input).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3931920" cy="777240"/>
          </a:xfrm>
          <a:prstGeom prst="rect">
            <a:avLst/>
          </a:prstGeom>
          <a:solidFill>
            <a:srgbClr val="1E3A2F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07592"/>
            <a:ext cx="3703320" cy="4004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SOIL_PIN A0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dryValue = 800;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wetValue = 300;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2011680"/>
            <a:ext cx="411480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011680"/>
            <a:ext cx="64008" cy="12618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031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#define SOIL_PIN A0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4231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Font typeface="Arial" pitchFamily="34" charset="0"/>
              <a:buChar char="•"/>
            </a:pPr>
            <a:r>
              <a:rPr lang="en-US" sz="10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analog pin A0.</a:t>
            </a:r>
          </a:p>
          <a:p>
            <a:pPr marL="0" indent="0">
              <a:buFont typeface="Arial" pitchFamily="34" charset="0"/>
              <a:buChar char="•"/>
            </a:pPr>
            <a:r>
              <a:rPr lang="en-US" sz="10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sensor gives analog voltage.</a:t>
            </a:r>
          </a:p>
          <a:p>
            <a:pPr marL="0" indent="0">
              <a:buFont typeface="Arial" pitchFamily="34" charset="0"/>
              <a:buChar char="•"/>
            </a:pPr>
            <a:r>
              <a:rPr lang="en-US" sz="10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NodeMCU has only ONE analog pin (A0), so the soil sensor must always use A0.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2011680"/>
            <a:ext cx="411480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011680"/>
            <a:ext cx="64008" cy="12618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1031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dryValue = 800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4231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Font typeface="Arial" pitchFamily="34" charset="0"/>
              <a:buChar char="•"/>
            </a:pPr>
            <a:r>
              <a:rPr lang="en-US" sz="10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soil is completely DRY, the sensor outputs ~800 (raw ADC value). This is the reference for 0% moisture.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429000"/>
            <a:ext cx="411480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429000"/>
            <a:ext cx="64008" cy="1261872"/>
          </a:xfrm>
          <a:prstGeom prst="rect">
            <a:avLst/>
          </a:prstGeom>
          <a:solidFill>
            <a:srgbClr val="00A3FF"/>
          </a:solidFill>
          <a:ln w="12700">
            <a:solidFill>
              <a:srgbClr val="00A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5204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wetValue = 300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8404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Font typeface="Arial" pitchFamily="34" charset="0"/>
              <a:buChar char="•"/>
            </a:pPr>
            <a:r>
              <a:rPr lang="en-US" sz="10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soil is WET/soaked, sensor outputs ~300. This is the reference for 100% moisture. </a:t>
            </a:r>
          </a:p>
          <a:p>
            <a:pPr marL="0" indent="0">
              <a:buFont typeface="Arial" pitchFamily="34" charset="0"/>
              <a:buChar char="•"/>
            </a:pPr>
            <a:r>
              <a:rPr lang="en-US" sz="10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are inverted — lower = wetter.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429000"/>
            <a:ext cx="411480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429000"/>
            <a:ext cx="64008" cy="1261872"/>
          </a:xfrm>
          <a:prstGeom prst="rect">
            <a:avLst/>
          </a:prstGeom>
          <a:solidFill>
            <a:srgbClr val="00A3FF"/>
          </a:solidFill>
          <a:ln w="12700">
            <a:solidFill>
              <a:srgbClr val="00A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5204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Calibrate?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8404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soils &amp; sensors have different raw ranges. Calibration maps raw numbers (300–800) to readable % (0–100) for humans.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setup() Function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84124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ONCE when the board powers on. Initializes everything before the main loop begins.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3931920" cy="2331720"/>
          </a:xfrm>
          <a:prstGeom prst="rect">
            <a:avLst/>
          </a:prstGeom>
          <a:solidFill>
            <a:srgbClr val="1E3A2F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3703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setup()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Serial.begin(115200);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delay(1000);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Serial.println("Wireless Soil &amp; Humidity Sensor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Starting..."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dht.begin();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434840" y="1188720"/>
            <a:ext cx="43891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434840" y="1188720"/>
            <a:ext cx="64008" cy="7772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0288" y="12618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Start Serial Communication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90288" y="155448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Opens a communication channel between NodeMCU and your computer at 115200 bps. This is required to see output in the Serial Monitor.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34840" y="2084832"/>
            <a:ext cx="43891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2084832"/>
            <a:ext cx="64008" cy="7772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21579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Wait 1 Second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90288" y="245059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Gives the system time to stabilize after power-on. Prevents sensor reading errors immediately after startup.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34840" y="2980944"/>
            <a:ext cx="43891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34840" y="2980944"/>
            <a:ext cx="64008" cy="7772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0288" y="305409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Print Startup Message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90288" y="3346704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Sends a startup confirmation to Serial Monitor. Useful for debugging — confirms the board is running your code.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434840" y="3877056"/>
            <a:ext cx="43891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34840" y="3877056"/>
            <a:ext cx="64008" cy="7772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0288" y="39502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DHT Sensor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90288" y="424281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Starts the DHT11 sensor. Without this, all calls to dht.readTemperature() and dht.readHumidity() will return NaN (error).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loop() Function &amp; Reading Soil Moisture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84124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loop() function runs forever, continuously reading and printing sensor data: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0975" y="1197864"/>
            <a:ext cx="4070985" cy="2121408"/>
          </a:xfrm>
          <a:prstGeom prst="rect">
            <a:avLst/>
          </a:prstGeom>
          <a:solidFill>
            <a:srgbClr val="1E3A2F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0974" y="1321308"/>
            <a:ext cx="425386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loop() {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soilRaw =</a:t>
            </a:r>
            <a:r>
              <a:rPr lang="en-US" sz="1000" dirty="0"/>
              <a:t> </a:t>
            </a:r>
            <a:r>
              <a:rPr lang="en-US" sz="100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analogRead(SOIL_PIN);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soilPercent = map(soilRaw,dryValue,wetValue,0,100);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soilPercent = constrain(soilPercent, 0, 100);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434840" y="1188720"/>
            <a:ext cx="43891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434840" y="1188720"/>
            <a:ext cx="64008" cy="11430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0288" y="128016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Raw Soil Value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90288" y="1600200"/>
            <a:ext cx="4160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analog voltage on A0 (0–1023). Wet soil → ~300. Dry soil → ~800. The value represents electrical conductivity of soil.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34840" y="2450592"/>
            <a:ext cx="43891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2450592"/>
            <a:ext cx="64008" cy="11430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254203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Raw to Percentage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90288" y="2862072"/>
            <a:ext cx="4160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map() translates one number range to another. 800 becomes 0%, 300 becomes 100%. 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34840" y="3712464"/>
            <a:ext cx="43891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34840" y="3712464"/>
            <a:ext cx="64008" cy="11430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0288" y="3803904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 to Valid Range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90288" y="4123944"/>
            <a:ext cx="4160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out-of-range values (-5%, 120%) caused by extreme conditions. Forces: minimum = 0%, maximum = 100% always.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Temperature &amp; Humidity (DHT11)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3931920" cy="1691640"/>
          </a:xfrm>
          <a:prstGeom prst="rect">
            <a:avLst/>
          </a:prstGeom>
          <a:solidFill>
            <a:srgbClr val="1E3A2F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3703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humidity =</a:t>
            </a:r>
            <a:r>
              <a:rPr lang="en-US" sz="1000" dirty="0"/>
              <a:t> </a:t>
            </a:r>
            <a:r>
              <a:rPr lang="en-US" sz="100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dht.readHumidity();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temperature =</a:t>
            </a:r>
            <a:r>
              <a:rPr lang="en-US" sz="1000" dirty="0"/>
              <a:t> </a:t>
            </a:r>
            <a:r>
              <a:rPr lang="en-US" sz="100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dht.readTemperature();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(isnan(humidity) ||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isnan(temperature))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Serial.println("Error!");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434840" y="841248"/>
            <a:ext cx="43891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434840" y="841248"/>
            <a:ext cx="64008" cy="9601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0288" y="93268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dht.readHumidity()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90288" y="1225296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Returns relative humidity as a float (e.g. 65.5%). Stored as 'float' because the sensor gives decimal precision. Range: 20–90% RH for DHT11.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34840" y="1892808"/>
            <a:ext cx="43891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1892808"/>
            <a:ext cx="64008" cy="960120"/>
          </a:xfrm>
          <a:prstGeom prst="rect">
            <a:avLst/>
          </a:prstGeom>
          <a:solidFill>
            <a:srgbClr val="00A3FF"/>
          </a:solidFill>
          <a:ln w="12700">
            <a:solidFill>
              <a:srgbClr val="00A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98424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dht.readTemperature()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90288" y="2276856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Returns temperature in Celsius as a float (e.g. 28.3°C). Range: 0–50°C for DHT11. Use readTemperature(true) for Fahrenheit.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34840" y="2944368"/>
            <a:ext cx="43891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34840" y="2944368"/>
            <a:ext cx="64008" cy="9601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303580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isnan() — Check for Errors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90288" y="3328416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DHT sensors sometimes fail to read and return NaN (Not a Number). isnan() detects this. If error detected → print message + return (skip rest of loop).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32743"/>
          </a:solidFill>
          <a:ln w="12700">
            <a:solidFill>
              <a:srgbClr val="1327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Setting Baud Rate to 115200 in Serial Monitor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841248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Baud rate is the speed of communication between NodeMCU and your computer. 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160520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64008" cy="1572768"/>
          </a:xfrm>
          <a:prstGeom prst="rect">
            <a:avLst/>
          </a:prstGeom>
          <a:solidFill>
            <a:srgbClr val="00A3FF"/>
          </a:solidFill>
          <a:ln w="12700">
            <a:solidFill>
              <a:srgbClr val="00A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4173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📟  What is Baud Rate?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208" y="1746504"/>
            <a:ext cx="3840480" cy="930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Baud rate = bits per second (bps). 115200 means 115,200 bits are transmitted per second. It controls how fast data flows from NodeMCU to Arduino Serial Monitor.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4160520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325880"/>
            <a:ext cx="64008" cy="1572768"/>
          </a:xfrm>
          <a:prstGeom prst="rect">
            <a:avLst/>
          </a:prstGeom>
          <a:solidFill>
            <a:srgbClr val="00A3FF"/>
          </a:solidFill>
          <a:ln w="12700">
            <a:solidFill>
              <a:srgbClr val="00A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4173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Why Must They Match?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64608" y="1746504"/>
            <a:ext cx="3840480" cy="7490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uses Serial.begin(115200). Serial Monitor must also be set to 115200. 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3081528"/>
            <a:ext cx="4160520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081528"/>
            <a:ext cx="64008" cy="1572768"/>
          </a:xfrm>
          <a:prstGeom prst="rect">
            <a:avLst/>
          </a:prstGeom>
          <a:solidFill>
            <a:srgbClr val="00A3FF"/>
          </a:solidFill>
          <a:ln w="12700">
            <a:solidFill>
              <a:srgbClr val="00A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31729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How to Set in Serial Monitor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" y="3502152"/>
            <a:ext cx="38404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Serial Monitor: Tools → Serial Monitor (or Ctrl+Shift+M). Bottom-right dropdown → select '115200 baud'. 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3081528"/>
            <a:ext cx="4160520" cy="1572768"/>
          </a:xfrm>
          <a:prstGeom prst="rect">
            <a:avLst/>
          </a:prstGeom>
          <a:solidFill>
            <a:srgbClr val="1E3A2F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31546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What You'll See (Correct Output)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73168" y="3493008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Wireless Soil &amp; Humidity Sensor Starting...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Soil Moisture: 62%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Temperature: 28.30°C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Humidity: 65.10%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A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Result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579369" y="841248"/>
            <a:ext cx="465010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Serial Monitor output and sensor behavior during testing:</a:t>
            </a:r>
            <a:endParaRPr lang="en-US" sz="1200" b="1" dirty="0"/>
          </a:p>
        </p:txBody>
      </p:sp>
      <p:sp>
        <p:nvSpPr>
          <p:cNvPr id="5" name="Shape 3"/>
          <p:cNvSpPr/>
          <p:nvPr/>
        </p:nvSpPr>
        <p:spPr>
          <a:xfrm>
            <a:off x="2579369" y="1133856"/>
            <a:ext cx="4650105" cy="3304794"/>
          </a:xfrm>
          <a:prstGeom prst="rect">
            <a:avLst/>
          </a:prstGeom>
          <a:solidFill>
            <a:srgbClr val="1E3A2F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68928" y="1190041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📟  Serial Monitor Output (115200 baud)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13560" y="1482649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pic>
        <p:nvPicPr>
          <p:cNvPr id="25" name="Picture 24"/>
          <p:cNvPicPr/>
          <p:nvPr/>
        </p:nvPicPr>
        <p:blipFill>
          <a:blip r:embed="rId3"/>
          <a:srcRect r="73814" b="68668"/>
          <a:stretch>
            <a:fillRect/>
          </a:stretch>
        </p:blipFill>
        <p:spPr>
          <a:xfrm>
            <a:off x="2868928" y="1482649"/>
            <a:ext cx="4065271" cy="281312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104900"/>
            <a:ext cx="841248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3822192"/>
            <a:ext cx="841248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07645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1425</TotalTime>
  <Words>1626</Words>
  <Application>Microsoft Office PowerPoint</Application>
  <PresentationFormat>On-screen Show (16:9)</PresentationFormat>
  <Paragraphs>220</Paragraphs>
  <Slides>18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Fully Wireless Sensor with NodeMCU</dc:title>
  <dc:subject>PptxGenJS Presentation</dc:subject>
  <dc:creator>PptxGenJS</dc:creator>
  <cp:lastModifiedBy>Shivani Agrawal</cp:lastModifiedBy>
  <cp:revision>27</cp:revision>
  <dcterms:created xsi:type="dcterms:W3CDTF">2026-04-19T18:09:56Z</dcterms:created>
  <dcterms:modified xsi:type="dcterms:W3CDTF">2026-04-21T02:32:37Z</dcterms:modified>
</cp:coreProperties>
</file>